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 tools</c:v>
                </c:pt>
                <c:pt idx="1">
                  <c:v>t2 tools</c:v>
                </c:pt>
                <c:pt idx="2">
                  <c:v>new tests</c:v>
                </c:pt>
                <c:pt idx="3">
                  <c:v>build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5</c:v>
                </c:pt>
                <c:pt idx="2">
                  <c:v>10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80467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>
                <a:solidFill>
                  <a:srgbClr val="5A5A5A"/>
                </a:solidFill>
                <a:latin typeface="Microsoft YaHei"/>
              </a:rPr>
              <a:t>OpenKitty AI 员工 session 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25880"/>
            <a:ext cx="9875520" cy="1325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5000" b="1">
                <a:solidFill>
                  <a:srgbClr val="000000"/>
                </a:solidFill>
                <a:latin typeface="Microsoft YaHei"/>
              </a:rPr>
              <a:t>AI 员工能接上下文，但接力链路需要清洗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3063240"/>
            <a:ext cx="9326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0">
                <a:solidFill>
                  <a:srgbClr val="232323"/>
                </a:solidFill>
                <a:latin typeface="Microsoft YaHei"/>
              </a:rPr>
              <a:t>Session: web_260707181455_2t  |  时间: 2026-07-07 18:14-18:31  |  工作目录: E:/adebug2/0705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206240"/>
            <a:ext cx="2743200" cy="109728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370832"/>
            <a:ext cx="21945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5A5A5A"/>
                </a:solidFill>
                <a:latin typeface="Microsoft YaHei"/>
              </a:rPr>
              <a:t>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681728"/>
            <a:ext cx="21488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100" b="1">
                <a:solidFill>
                  <a:srgbClr val="000000"/>
                </a:solidFill>
                <a:latin typeface="Microsoft YaHei"/>
              </a:rPr>
              <a:t>不是不能接，是接得不干净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4206240"/>
            <a:ext cx="2743200" cy="109728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4370832"/>
            <a:ext cx="21945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5A5A5A"/>
                </a:solidFill>
                <a:latin typeface="Microsoft YaHei"/>
              </a:rPr>
              <a:t>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4681728"/>
            <a:ext cx="21488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100" b="1">
                <a:solidFill>
                  <a:srgbClr val="000000"/>
                </a:solidFill>
                <a:latin typeface="Microsoft YaHei"/>
              </a:rPr>
              <a:t>内部提示污染下一轮 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4206240"/>
            <a:ext cx="2743200" cy="109728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4370832"/>
            <a:ext cx="21945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5A5A5A"/>
                </a:solidFill>
                <a:latin typeface="Microsoft YaHei"/>
              </a:rPr>
              <a:t>修复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4681728"/>
            <a:ext cx="21488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100" b="1">
                <a:solidFill>
                  <a:srgbClr val="000000"/>
                </a:solidFill>
                <a:latin typeface="Microsoft YaHei"/>
              </a:rPr>
              <a:t>清洗记忆并修正状态判定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4114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1">
                <a:solidFill>
                  <a:srgbClr val="5A5A5A"/>
                </a:solidFill>
                <a:latin typeface="Microsoft YaHei"/>
              </a:rPr>
              <a:t>SESSION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0789920" cy="6217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500" b="1">
                <a:solidFill>
                  <a:srgbClr val="000000"/>
                </a:solidFill>
                <a:latin typeface="Microsoft YaHei"/>
              </a:rPr>
              <a:t>两轮任务实际是连续执行的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292840" cy="15240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3017520" cy="28346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914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FF6B35"/>
                </a:solidFill>
                <a:latin typeface="Microsoft YaHei"/>
              </a:rPr>
              <a:t>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468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PDF 转图片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514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2 页 PDF 渲染为 PNG
输出 1241×1754 的两张图
transcript 状态 success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920240"/>
            <a:ext cx="3017520" cy="28346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76272"/>
            <a:ext cx="914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FF6B35"/>
                </a:solidFill>
                <a:latin typeface="Microsoft YaHei"/>
              </a:rPr>
              <a:t>t2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2468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继续处理上一轮 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37560"/>
            <a:ext cx="2514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prompt 含 t1 结果和 Recent Context
生成并排图 2602×1834
verify_work 给出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920240"/>
            <a:ext cx="3017520" cy="28346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76272"/>
            <a:ext cx="914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FF6B35"/>
                </a:solidFill>
                <a:latin typeface="Microsoft YaHei"/>
              </a:rPr>
              <a:t>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2468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500" b="1">
                <a:solidFill>
                  <a:srgbClr val="000000"/>
                </a:solidFill>
                <a:latin typeface="Microsoft YaHei"/>
              </a:rPr>
              <a:t>表象失败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37560"/>
            <a:ext cx="2514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ptc_execute 出现 encoding 失败
最终 transcript 仍被标 failed
用户感知为“没接上”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257800"/>
            <a:ext cx="978408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103327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关键判断：t2 已经使用了 t1 的产物和事实，不是上下文完全断裂。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4114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1">
                <a:solidFill>
                  <a:srgbClr val="5A5A5A"/>
                </a:solidFill>
                <a:latin typeface="Microsoft YaHe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0789920" cy="6217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500" b="1">
                <a:solidFill>
                  <a:srgbClr val="000000"/>
                </a:solidFill>
                <a:latin typeface="Microsoft YaHei"/>
              </a:rPr>
              <a:t>最直接的证据是产物已经生成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292840" cy="15240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48006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ubao_pages_side_by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71808"/>
            <a:ext cx="4434840" cy="31258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532120"/>
            <a:ext cx="44805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doubao_pages_side_by_side.png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1600200"/>
            <a:ext cx="2331720" cy="14173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16168" y="1828800"/>
            <a:ext cx="1929384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900" b="1">
                <a:solidFill>
                  <a:srgbClr val="000000"/>
                </a:solidFill>
                <a:latin typeface="Microsoft YaHei"/>
              </a:rPr>
              <a:t>2602×1834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587752"/>
            <a:ext cx="1929384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232323"/>
                </a:solidFill>
                <a:latin typeface="Microsoft YaHei"/>
              </a:rPr>
              <a:t>输出图片尺寸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600200"/>
            <a:ext cx="1417320" cy="14173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828800"/>
            <a:ext cx="1014984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000000"/>
                </a:solidFill>
                <a:latin typeface="Microsoft YaHei"/>
              </a:rPr>
              <a:t>1.2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587752"/>
            <a:ext cx="1014984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232323"/>
                </a:solidFill>
                <a:latin typeface="Microsoft YaHei"/>
              </a:rPr>
              <a:t>输出文件大小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1600200"/>
            <a:ext cx="1828800" cy="14173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0968" y="1828800"/>
            <a:ext cx="1426464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900" b="1">
                <a:solidFill>
                  <a:srgbClr val="000000"/>
                </a:solidFill>
                <a:latin typeface="Microsoft YaHei"/>
              </a:rPr>
              <a:t>18:29:45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0968" y="2587752"/>
            <a:ext cx="1426464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232323"/>
                </a:solidFill>
                <a:latin typeface="Microsoft YaHei"/>
              </a:rPr>
              <a:t>文件生成时间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352958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9592" y="3474720"/>
            <a:ext cx="2926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5A5A5A"/>
                </a:solidFill>
                <a:latin typeface="Microsoft YaHei"/>
              </a:rPr>
              <a:t>日志证据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3941063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9592" y="3886200"/>
            <a:ext cx="51389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t2 prompt 中含有 t1 的页数、尺寸、输出目录和渲染 DPI。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439826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9592" y="4343400"/>
            <a:ext cx="51389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verify_work 对脚本、源文件、输出文件和预期尺寸给出 PASS。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485546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9592" y="4800600"/>
            <a:ext cx="51389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失败集中在 ptc_execute:encoding，不是用户目标未完成。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4114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1">
                <a:solidFill>
                  <a:srgbClr val="5A5A5A"/>
                </a:solidFill>
                <a:latin typeface="Microsoft YaHei"/>
              </a:rP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0789920" cy="6217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500" b="1">
                <a:solidFill>
                  <a:srgbClr val="000000"/>
                </a:solidFill>
                <a:latin typeface="Microsoft YaHei"/>
              </a:rPr>
              <a:t>问题发生在接力链路，而不是模型能力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292840" cy="15240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394960" cy="42062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389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000000"/>
                </a:solidFill>
                <a:latin typeface="Microsoft YaHei"/>
              </a:rPr>
              <a:t>上下文污染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79806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743200"/>
            <a:ext cx="44531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上一轮 assistant 的 &lt;think&gt; 被写进最近对话。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73552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18688"/>
            <a:ext cx="44531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工具审查、checkpoint、auto verification 像普通消息一样进入下一轮。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694176"/>
            <a:ext cx="44531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模型把内部审计文本当成 prompt injection 处理，注意力被拉偏。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91640"/>
            <a:ext cx="5394960" cy="42062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389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000000"/>
                </a:solidFill>
                <a:latin typeface="Microsoft YaHei"/>
              </a:rPr>
              <a:t>状态误判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79806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2743200"/>
            <a:ext cx="44531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脚本产物已经落盘，但工具输出解码异常被算作执行失败。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273552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3218688"/>
            <a:ext cx="44531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turn 级状态直接继承中间工具失败，没有结合最终产物和 verify PASS。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749039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3694176"/>
            <a:ext cx="44531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UI 最终展示 failed，掩盖了用户任务已完成的事实。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4114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1">
                <a:solidFill>
                  <a:srgbClr val="5A5A5A"/>
                </a:solidFill>
                <a:latin typeface="Microsoft YaHei"/>
              </a:rPr>
              <a:t>FIX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0789920" cy="6217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500" b="1">
                <a:solidFill>
                  <a:srgbClr val="000000"/>
                </a:solidFill>
                <a:latin typeface="Microsoft YaHei"/>
              </a:rPr>
              <a:t>修复把“记忆”和“状态”拆开治理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292840" cy="15240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0972800" cy="566928"/>
          </a:xfrm>
          <a:prstGeom prst="rect">
            <a:avLst/>
          </a:prstGeom>
          <a:solidFill>
            <a:srgbClr val="EDEDED"/>
          </a:solidFill>
          <a:ln w="1270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9928"/>
            <a:ext cx="19202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记忆清洗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70992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FF6B35"/>
                </a:solidFill>
                <a:latin typeface="Microsoft YaHei"/>
              </a:rPr>
              <a:t>新增 session_carryover.go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709928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232323"/>
                </a:solidFill>
                <a:latin typeface="Microsoft YaHei"/>
              </a:rPr>
              <a:t>过滤 &lt;think&gt;、工具审计、验证提示、checkpoint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50008"/>
            <a:ext cx="19202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产物接力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35000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FF6B35"/>
                </a:solidFill>
                <a:latin typeface="Microsoft YaHei"/>
              </a:rPr>
              <a:t>Recent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350008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232323"/>
                </a:solidFill>
                <a:latin typeface="Microsoft YaHei"/>
              </a:rPr>
              <a:t>从 assistant 输出抽取 .openkitty/storage 产物路径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80360"/>
            <a:ext cx="10972800" cy="566928"/>
          </a:xfrm>
          <a:prstGeom prst="rect">
            <a:avLst/>
          </a:prstGeom>
          <a:solidFill>
            <a:srgbClr val="EDEDED"/>
          </a:solidFill>
          <a:ln w="1270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990088"/>
            <a:ext cx="19202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短记忆防套娃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99008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FF6B35"/>
                </a:solidFill>
                <a:latin typeface="Microsoft YaHei"/>
              </a:rPr>
              <a:t>AIEmployee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990088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232323"/>
                </a:solidFill>
                <a:latin typeface="Microsoft YaHei"/>
              </a:rPr>
              <a:t>只记录原始用户任务，不记录拼接后的 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204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30168"/>
            <a:ext cx="19202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长期记忆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63016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FF6B35"/>
                </a:solidFill>
                <a:latin typeface="Microsoft YaHei"/>
              </a:rPr>
              <a:t>SessionMemoryExtractor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630168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232323"/>
                </a:solidFill>
                <a:latin typeface="Microsoft YaHei"/>
              </a:rPr>
              <a:t>工具消息只保留产物路径，不写入 dump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60520"/>
            <a:ext cx="10972800" cy="566928"/>
          </a:xfrm>
          <a:prstGeom prst="rect">
            <a:avLst/>
          </a:prstGeom>
          <a:solidFill>
            <a:srgbClr val="EDEDED"/>
          </a:solidFill>
          <a:ln w="1270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270248"/>
            <a:ext cx="19202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编码容错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27024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FF6B35"/>
                </a:solidFill>
                <a:latin typeface="Microsoft YaHei"/>
              </a:rPr>
              <a:t>ptc_execute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270248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232323"/>
                </a:solidFill>
                <a:latin typeface="Microsoft YaHei"/>
              </a:rPr>
              <a:t>强制 Python UTF-8，reader UnicodeDecodeError 降级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006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910328"/>
            <a:ext cx="19202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状态回正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910328"/>
            <a:ext cx="2560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FF6B35"/>
                </a:solidFill>
                <a:latin typeface="Microsoft YaHei"/>
              </a:rPr>
              <a:t>Codex app-server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910328"/>
            <a:ext cx="5486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>
                <a:solidFill>
                  <a:srgbClr val="232323"/>
                </a:solidFill>
                <a:latin typeface="Microsoft YaHei"/>
              </a:rPr>
              <a:t>有最终产物且失败非致命时不覆盖成 failed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4114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1">
                <a:solidFill>
                  <a:srgbClr val="5A5A5A"/>
                </a:solidFill>
                <a:latin typeface="Microsoft YaHei"/>
              </a:rP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0789920" cy="6217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500" b="1">
                <a:solidFill>
                  <a:srgbClr val="000000"/>
                </a:solidFill>
                <a:latin typeface="Microsoft YaHei"/>
              </a:rPr>
              <a:t>行为变化集中在下一轮 prompt 和最终状态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292840" cy="15240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5394960" cy="44348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2560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B43939"/>
                </a:solidFill>
                <a:latin typeface="Microsoft YaHei"/>
              </a:rPr>
              <a:t>修复前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75234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697480"/>
            <a:ext cx="449884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最近对话可能含内部推理和审计文本。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27832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172968"/>
            <a:ext cx="449884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产物路径被埋在长文本里，下一轮需要重新猜。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703320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648456"/>
            <a:ext cx="449884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中间工具失败容易把已完成任务标成 failed。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178807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123944"/>
            <a:ext cx="449884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用户看到失败状态，误以为 AI 员工没有接上反馈。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5394960" cy="44348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65960"/>
            <a:ext cx="25603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208454"/>
                </a:solidFill>
                <a:latin typeface="Microsoft YaHei"/>
              </a:rPr>
              <a:t>修复后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75234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2697480"/>
            <a:ext cx="449884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下一轮只看到干净的用户需求、最终答复和事实。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227832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3172968"/>
            <a:ext cx="449884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产物路径以 Recent Artifacts 结构化注入。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703320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3648456"/>
            <a:ext cx="449884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编码类非致命异常不再触发失败追踪。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178807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4123944"/>
            <a:ext cx="449884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最终产物存在且验证通过时，turn 状态保持完成。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4114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1">
                <a:solidFill>
                  <a:srgbClr val="5A5A5A"/>
                </a:solidFill>
                <a:latin typeface="Microsoft YaHe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0789920" cy="6217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500" b="1">
                <a:solidFill>
                  <a:srgbClr val="000000"/>
                </a:solidFill>
                <a:latin typeface="Microsoft YaHei"/>
              </a:rPr>
              <a:t>验证覆盖了功能、状态和编译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292840" cy="15240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240280" cy="14173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920240"/>
            <a:ext cx="1837944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900" b="1">
                <a:solidFill>
                  <a:srgbClr val="000000"/>
                </a:solidFill>
                <a:latin typeface="Microsoft YaHei"/>
              </a:rPr>
              <a:t>go test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679192"/>
            <a:ext cx="1837944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232323"/>
                </a:solidFill>
                <a:latin typeface="Microsoft YaHei"/>
              </a:rPr>
              <a:t>全量单包测试通过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691640"/>
            <a:ext cx="2240280" cy="14173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1920240"/>
            <a:ext cx="1837944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300" b="1">
                <a:solidFill>
                  <a:srgbClr val="000000"/>
                </a:solidFill>
                <a:latin typeface="Microsoft YaHei"/>
              </a:rPr>
              <a:t>88s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679192"/>
            <a:ext cx="1837944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232323"/>
                </a:solidFill>
                <a:latin typeface="Microsoft YaHei"/>
              </a:rPr>
              <a:t>测试运行耗时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91640"/>
            <a:ext cx="2240280" cy="14173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920240"/>
            <a:ext cx="1837944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900" b="1">
                <a:solidFill>
                  <a:srgbClr val="000000"/>
                </a:solidFill>
                <a:latin typeface="Microsoft YaHei"/>
              </a:rPr>
              <a:t>go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2679192"/>
            <a:ext cx="1837944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232323"/>
                </a:solidFill>
                <a:latin typeface="Microsoft YaHei"/>
              </a:rPr>
              <a:t>Windows 可执行构建通过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691640"/>
            <a:ext cx="2240280" cy="14173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920240"/>
            <a:ext cx="1837944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300" b="1">
                <a:solidFill>
                  <a:srgbClr val="000000"/>
                </a:solidFill>
                <a:latin typeface="Microsoft YaHei"/>
              </a:rPr>
              <a:t>9s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679192"/>
            <a:ext cx="1837944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232323"/>
                </a:solidFill>
                <a:latin typeface="Microsoft YaHei"/>
              </a:rPr>
              <a:t>构建检查耗时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85800" y="3703320"/>
          <a:ext cx="512064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ectangle 17"/>
          <p:cNvSpPr/>
          <p:nvPr/>
        </p:nvSpPr>
        <p:spPr>
          <a:xfrm>
            <a:off x="6400800" y="3712463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657600"/>
            <a:ext cx="2926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5A5A5A"/>
                </a:solidFill>
                <a:latin typeface="Microsoft YaHei"/>
              </a:rPr>
              <a:t>新增测试点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12394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069080"/>
            <a:ext cx="440740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session carryover 清洗和产物路径保留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53542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480560"/>
            <a:ext cx="440740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session-memory 只保留工具产物路径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94690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4892040"/>
            <a:ext cx="440740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ptc UTF-8 环境和非致命 reader 编码错误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35838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5303520"/>
            <a:ext cx="440740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232323"/>
                </a:solidFill>
                <a:latin typeface="Microsoft YaHei"/>
              </a:rPr>
              <a:t>Codex turn 失败状态的非致命回正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4114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1">
                <a:solidFill>
                  <a:srgbClr val="5A5A5A"/>
                </a:solidFill>
                <a:latin typeface="Microsoft YaHe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0789920" cy="6217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500" b="1">
                <a:solidFill>
                  <a:srgbClr val="000000"/>
                </a:solidFill>
                <a:latin typeface="Microsoft YaHei"/>
              </a:rPr>
              <a:t>下一步要把上下文接力变成产品规则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1292840" cy="15240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83664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97109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0">
                <a:solidFill>
                  <a:srgbClr val="232323"/>
                </a:solidFill>
                <a:latin typeface="Microsoft YaHei"/>
              </a:rPr>
              <a:t>产品内置规则：下一轮 prompt 只接收干净对话、结构化事实和 Recent Artifacts。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50592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97109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0">
                <a:solidFill>
                  <a:srgbClr val="232323"/>
                </a:solidFill>
                <a:latin typeface="Microsoft YaHei"/>
              </a:rPr>
              <a:t>日志治理规则：tool audit、guardrail、verification 和 checkpoint 只进审计日志，不进用户记忆。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62656"/>
            <a:ext cx="97109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0">
                <a:solidFill>
                  <a:srgbClr val="232323"/>
                </a:solidFill>
                <a:latin typeface="Microsoft YaHei"/>
              </a:rPr>
              <a:t>状态治理规则：最终产物存在、最终答复非空、验证 PASS 时，中间非致命工具失败不能覆盖最终状态。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84448"/>
            <a:ext cx="731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529584"/>
            <a:ext cx="9710928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0">
                <a:solidFill>
                  <a:srgbClr val="232323"/>
                </a:solidFill>
                <a:latin typeface="Microsoft YaHei"/>
              </a:rPr>
              <a:t>观测规则：对 session memory 污染、artifact 缺失、turn failed after final 设独立指标。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83480"/>
            <a:ext cx="9692640" cy="74980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48072"/>
            <a:ext cx="9144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1">
                <a:solidFill>
                  <a:srgbClr val="000000"/>
                </a:solidFill>
                <a:latin typeface="Microsoft YaHei"/>
              </a:rPr>
              <a:t>最终判断：AI 员工已经能接前一轮反馈；本次修复让它接得更干净，也让 UI 状态更接近真实执行结果。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